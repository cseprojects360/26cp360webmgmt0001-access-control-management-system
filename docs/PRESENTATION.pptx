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
  <Relationship Id="rId14" Type="http://schemas.openxmlformats.org/officeDocument/2006/relationships/theme" Target="theme/them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Title</a:t>
            </a:r>
          </a:p>
        </p:txBody>
      </p:sp>
      <p:sp>
        <p:nvSpPr>
          <p:cNvPr id="3" name="Body"/>
          <p:cNvSpPr txBox="1"/>
          <p:nvPr/>
        </p:nvSpPr>
        <p:spPr>
          <a:xfrm>
            <a:off x="914400" y="1600200"/>
            <a:ext cx="10363200" cy="4572000"/>
          </a:xfrm>
          <a:prstGeom prst="rect">
            <a:avLst/>
          </a:prstGeom>
        </p:spPr>
        <p:txBody>
          <a:bodyPr/>
          <a:lstStyle/>
          <a:p>
            <a:r>
              <a:rPr lang="en-US" sz="2400"/>
              <a:t>Access Control Management System</a:t>
            </a:r>
          </a:p>
          <a:p>
            <a:r>
              <a:rPr lang="en-US" sz="2400"/>
              <a:t>Final Year Major Project using React + Tailwind, .NET C#, PostgreSQL, Swagger, Docker, and config-driven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Problem Statement</a:t>
            </a:r>
          </a:p>
        </p:txBody>
      </p:sp>
      <p:sp>
        <p:nvSpPr>
          <p:cNvPr id="3" name="Body"/>
          <p:cNvSpPr txBox="1"/>
          <p:nvPr/>
        </p:nvSpPr>
        <p:spPr>
          <a:xfrm>
            <a:off x="914400" y="1600200"/>
            <a:ext cx="10363200" cy="4572000"/>
          </a:xfrm>
          <a:prstGeom prst="rect">
            <a:avLst/>
          </a:prstGeom>
        </p:spPr>
        <p:txBody>
          <a:bodyPr/>
          <a:lstStyle/>
          <a:p>
            <a:r>
              <a:rPr lang="en-US" sz="2400"/>
              <a:t>Manual handling of Access Control Identities, Access Control Access Requests, Access Control Devices, Access Control Incidents, and Access Control Audit Logs causes delays, duplicate entries, weak reporting, and poor tracking in the access control domain.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Objectives</a:t>
            </a:r>
          </a:p>
        </p:txBody>
      </p:sp>
      <p:sp>
        <p:nvSpPr>
          <p:cNvPr id="3" name="Body"/>
          <p:cNvSpPr txBox="1"/>
          <p:nvPr/>
        </p:nvSpPr>
        <p:spPr>
          <a:xfrm>
            <a:off x="914400" y="1600200"/>
            <a:ext cx="10363200" cy="4572000"/>
          </a:xfrm>
          <a:prstGeom prst="rect">
            <a:avLst/>
          </a:prstGeom>
        </p:spPr>
        <p:txBody>
          <a:bodyPr/>
          <a:lstStyle/>
          <a:p>
            <a:r>
              <a:rPr lang="en-US" sz="2400"/>
              <a:t>Provide secure login, domain workflows, analytics dashboard, reports, audit history, seed data, documented APIs, and student-ready project material.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Existing System</a:t>
            </a:r>
          </a:p>
        </p:txBody>
      </p:sp>
      <p:sp>
        <p:nvSpPr>
          <p:cNvPr id="3" name="Body"/>
          <p:cNvSpPr txBox="1"/>
          <p:nvPr/>
        </p:nvSpPr>
        <p:spPr>
          <a:xfrm>
            <a:off x="914400" y="1600200"/>
            <a:ext cx="10363200" cy="4572000"/>
          </a:xfrm>
          <a:prstGeom prst="rect">
            <a:avLst/>
          </a:prstGeom>
        </p:spPr>
        <p:txBody>
          <a:bodyPr/>
          <a:lstStyle/>
          <a:p>
            <a:r>
              <a:rPr lang="en-US" sz="2400"/>
              <a:t>Existing work is usually managed using paper registers, spreadsheets, or disconnected tools with limited validation and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Proposed System</a:t>
            </a:r>
          </a:p>
        </p:txBody>
      </p:sp>
      <p:sp>
        <p:nvSpPr>
          <p:cNvPr id="3" name="Body"/>
          <p:cNvSpPr txBox="1"/>
          <p:nvPr/>
        </p:nvSpPr>
        <p:spPr>
          <a:xfrm>
            <a:off x="914400" y="1600200"/>
            <a:ext cx="10363200" cy="4572000"/>
          </a:xfrm>
          <a:prstGeom prst="rect">
            <a:avLst/>
          </a:prstGeom>
        </p:spPr>
        <p:txBody>
          <a:bodyPr/>
          <a:lstStyle/>
          <a:p>
            <a:r>
              <a:rPr lang="en-US" sz="2400"/>
              <a:t>Access Control Management System centralizes Access Control Identities, Access Control Access Requests, Access Control Devices, Access Control Incidents, and Access Control Audit Logs in one web application with a frontend dashboard, backend REST API, and PostgreSQL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Technology Stack</a:t>
            </a:r>
          </a:p>
        </p:txBody>
      </p:sp>
      <p:sp>
        <p:nvSpPr>
          <p:cNvPr id="3" name="Body"/>
          <p:cNvSpPr txBox="1"/>
          <p:nvPr/>
        </p:nvSpPr>
        <p:spPr>
          <a:xfrm>
            <a:off x="914400" y="1600200"/>
            <a:ext cx="10363200" cy="4572000"/>
          </a:xfrm>
          <a:prstGeom prst="rect">
            <a:avLst/>
          </a:prstGeom>
        </p:spPr>
        <p:txBody>
          <a:bodyPr/>
          <a:lstStyle/>
          <a:p>
            <a:r>
              <a:rPr lang="en-US" sz="2400"/>
              <a:t>Frontend: React + Tailwind</a:t>
            </a:r>
          </a:p>
          <a:p>
            <a:r>
              <a:rPr lang="en-US" sz="2400"/>
              <a:t>Backend: .NET C#</a:t>
            </a:r>
          </a:p>
          <a:p>
            <a:r>
              <a:rPr lang="en-US" sz="2400"/>
              <a:t>Database: PostgreSQL</a:t>
            </a:r>
          </a:p>
          <a:p>
            <a:r>
              <a:rPr lang="en-US" sz="2400"/>
              <a:t>API Docs: Swagger</a:t>
            </a:r>
          </a:p>
          <a:p>
            <a:r>
              <a:rPr lang="en-US" sz="2400"/>
              <a:t>Runtime: Docker Compose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System Architecture</a:t>
            </a:r>
          </a:p>
        </p:txBody>
      </p:sp>
      <p:sp>
        <p:nvSpPr>
          <p:cNvPr id="3" name="Body"/>
          <p:cNvSpPr txBox="1"/>
          <p:nvPr/>
        </p:nvSpPr>
        <p:spPr>
          <a:xfrm>
            <a:off x="914400" y="1600200"/>
            <a:ext cx="10363200" cy="4572000"/>
          </a:xfrm>
          <a:prstGeom prst="rect">
            <a:avLst/>
          </a:prstGeom>
        </p:spPr>
        <p:txBody>
          <a:bodyPr/>
          <a:lstStyle/>
          <a:p>
            <a:r>
              <a:rPr lang="en-US" sz="2400"/>
              <a:t>Browser frontend communicates with the .NET C# API. The API validates requests, applies authentication, stores data in PostgreSQL, and exposes Swagger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Modules</a:t>
            </a:r>
          </a:p>
        </p:txBody>
      </p:sp>
      <p:sp>
        <p:nvSpPr>
          <p:cNvPr id="3" name="Body"/>
          <p:cNvSpPr txBox="1"/>
          <p:nvPr/>
        </p:nvSpPr>
        <p:spPr>
          <a:xfrm>
            <a:off x="914400" y="1600200"/>
            <a:ext cx="10363200" cy="4572000"/>
          </a:xfrm>
          <a:prstGeom prst="rect">
            <a:avLst/>
          </a:prstGeom>
        </p:spPr>
        <p:txBody>
          <a:bodyPr/>
          <a:lstStyle/>
          <a:p>
            <a:r>
              <a:rPr lang="en-US" sz="2400"/>
              <a:t>- Dashboard</a:t>
            </a:r>
          </a:p>
          <a:p>
            <a:r>
              <a:rPr lang="en-US" sz="2400"/>
              <a:t>- Access Control Identities</a:t>
            </a:r>
          </a:p>
          <a:p>
            <a:r>
              <a:rPr lang="en-US" sz="2400"/>
              <a:t>- Access Control Access Requests</a:t>
            </a:r>
          </a:p>
          <a:p>
            <a:r>
              <a:rPr lang="en-US" sz="2400"/>
              <a:t>- Access Control Devices</a:t>
            </a:r>
          </a:p>
          <a:p>
            <a:r>
              <a:rPr lang="en-US" sz="2400"/>
              <a:t>- Access Control Incidents</a:t>
            </a:r>
          </a:p>
          <a:p>
            <a:r>
              <a:rPr lang="en-US" sz="2400"/>
              <a:t>- Access Control Audit Logs</a:t>
            </a:r>
          </a:p>
          <a:p>
            <a:r>
              <a:rPr lang="en-US" sz="2400"/>
              <a:t>- Authorize Access</a:t>
            </a:r>
          </a:p>
          <a:p>
            <a:r>
              <a:rPr lang="en-US" sz="2400"/>
              <a:t>- Log Incident</a:t>
            </a:r>
          </a:p>
          <a:p>
            <a:r>
              <a:rPr lang="en-US" sz="2400"/>
              <a:t>- Review Security Audit</a:t>
            </a:r>
          </a:p>
          <a:p>
            <a:r>
              <a:rPr lang="en-US" sz="2400"/>
              <a:t>- Reports</a:t>
            </a:r>
          </a:p>
          <a:p>
            <a:r>
              <a:rPr lang="en-US" sz="2400"/>
              <a:t>- Audit Trail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Database Design</a:t>
            </a:r>
          </a:p>
        </p:txBody>
      </p:sp>
      <p:sp>
        <p:nvSpPr>
          <p:cNvPr id="3" name="Body"/>
          <p:cNvSpPr txBox="1"/>
          <p:nvPr/>
        </p:nvSpPr>
        <p:spPr>
          <a:xfrm>
            <a:off x="914400" y="1600200"/>
            <a:ext cx="10363200" cy="4572000"/>
          </a:xfrm>
          <a:prstGeom prst="rect">
            <a:avLst/>
          </a:prstGeom>
        </p:spPr>
        <p:txBody>
          <a:bodyPr/>
          <a:lstStyle/>
          <a:p>
            <a:r>
              <a:rPr lang="en-US" sz="2400"/>
              <a:t>The data model includes users, roles, audit logs, and domain collections for Access Control Identities, Access Control Access Requests, Access Control Devices, Access Control Incidents, Access Control Audit Logs. Key fields include Access Control Identities with Access Control Identity Code, Access Control Identity Name, Access Control Category, Security &amp; Access Management Owner, Access Control Identity Status, Access Control Identity Code, Access Control Access Level, Access Control Department; Access Control Access Requests with Access Control AccessRequest Code, Access Control AccessRequest Name, Access Control Category, Security &amp; Access Management Owner, Access Control AccessRequest Status, Access Control Request Number, Access Control Requested Area, Access Control Approval Status; Access Control Devices with Access Control Device Code, Access Control Device Name, Access Control Category, Security &amp; Access Management Owner, Access Control Device Status, Access Control Device Code, Access Control Device Type, Access Control Location; Access Control Incidents with Access Control Incident Code, Access Control Incident Name, Access Control Category, Security &amp; Access Management Owner, Access Control Incident Status, Access Control Incident Number, Access Control Severity, Access Control Reported Date; Access Control Audit Logs with Access Control AuditLog Code, Access Control AuditLog Name, Access Control Category, Security &amp; Access Management Owner, Access Control AuditLog Status, Access Control Audit Number, Access Control Event Type, Access Control Risk Level.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Screenshots</a:t>
            </a:r>
          </a:p>
        </p:txBody>
      </p:sp>
      <p:sp>
        <p:nvSpPr>
          <p:cNvPr id="3" name="Body"/>
          <p:cNvSpPr txBox="1"/>
          <p:nvPr/>
        </p:nvSpPr>
        <p:spPr>
          <a:xfrm>
            <a:off x="914400" y="1600200"/>
            <a:ext cx="10363200" cy="4572000"/>
          </a:xfrm>
          <a:prstGeom prst="rect">
            <a:avLst/>
          </a:prstGeom>
        </p:spPr>
        <p:txBody>
          <a:bodyPr/>
          <a:lstStyle/>
          <a:p>
            <a:r>
              <a:rPr lang="en-US" sz="2400"/>
              <a:t>Use screenshots from docs/screenshots: login page, dashboard, management pages, reports, audit log, and Swagger.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Testing</a:t>
            </a:r>
          </a:p>
        </p:txBody>
      </p:sp>
      <p:sp>
        <p:nvSpPr>
          <p:cNvPr id="3" name="Body"/>
          <p:cNvSpPr txBox="1"/>
          <p:nvPr/>
        </p:nvSpPr>
        <p:spPr>
          <a:xfrm>
            <a:off x="914400" y="1600200"/>
            <a:ext cx="10363200" cy="4572000"/>
          </a:xfrm>
          <a:prstGeom prst="rect">
            <a:avLst/>
          </a:prstGeom>
        </p:spPr>
        <p:txBody>
          <a:bodyPr/>
          <a:lstStyle/>
          <a:p>
            <a:r>
              <a:rPr lang="en-US" sz="2400"/>
              <a:t>Testing includes backend build, frontend build, Docker config, migration, seed, health endpoint, Swagger endpoint, login API, CRUD smoke test, browser smoke test, screenshots, and uniqueness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Future Scope</a:t>
            </a:r>
          </a:p>
        </p:txBody>
      </p:sp>
      <p:sp>
        <p:nvSpPr>
          <p:cNvPr id="3" name="Body"/>
          <p:cNvSpPr txBox="1"/>
          <p:nvPr/>
        </p:nvSpPr>
        <p:spPr>
          <a:xfrm>
            <a:off x="914400" y="1600200"/>
            <a:ext cx="10363200" cy="4572000"/>
          </a:xfrm>
          <a:prstGeom prst="rect">
            <a:avLst/>
          </a:prstGeom>
        </p:spPr>
        <p:txBody>
          <a:bodyPr/>
          <a:lstStyle/>
          <a:p>
            <a:r>
              <a:rPr lang="en-US" sz="2400"/>
              <a:t>- Authorize Access: Authorize Access for access control with clear steps, ownership, and audit-ready status updates.</a:t>
            </a:r>
          </a:p>
          <a:p>
            <a:r>
              <a:rPr lang="en-US" sz="2400"/>
              <a:t>- Log Incident: Log Incident for access control with clear steps, ownership, and audit-ready status updates.</a:t>
            </a:r>
          </a:p>
          <a:p>
            <a:r>
              <a:rPr lang="en-US" sz="2400"/>
              <a:t>- Review Security Audit: Review Security Audit for access control with clear steps, ownership, and audit-ready status updates.</a:t>
            </a:r>
          </a:p>
          <a:p>
            <a:r>
              <a:rPr lang="en-US" sz="2400"/>
              <a:t>- PDF/Excel export</a:t>
            </a:r>
          </a:p>
          <a:p>
            <a:r>
              <a:rPr lang="en-US" sz="2400"/>
              <a:t>- role-based permissions</a:t>
            </a:r>
          </a:p>
          <a:p>
            <a:r>
              <a:rPr lang="en-US" sz="2400"/>
              <a:t>- email/SMS notifications</a:t>
            </a:r>
          </a:p>
          <a:p>
            <a:r>
              <a:rPr lang="en-US" sz="2400"/>
              <a:t>- advanced analytics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Conclusion</a:t>
            </a:r>
          </a:p>
        </p:txBody>
      </p:sp>
      <p:sp>
        <p:nvSpPr>
          <p:cNvPr id="3" name="Body"/>
          <p:cNvSpPr txBox="1"/>
          <p:nvPr/>
        </p:nvSpPr>
        <p:spPr>
          <a:xfrm>
            <a:off x="914400" y="1600200"/>
            <a:ext cx="10363200" cy="4572000"/>
          </a:xfrm>
          <a:prstGeom prst="rect">
            <a:avLst/>
          </a:prstGeom>
        </p:spPr>
        <p:txBody>
          <a:bodyPr/>
          <a:lstStyle/>
          <a:p>
            <a:r>
              <a:rPr lang="en-US" sz="2400"/>
              <a:t>Access Control Management System is major-project ready because it includes working code, workflows, analytics scope, seed data, Docker setup, validation, browser testing, screenshots, config-driven project material, and complete submission documentation.</a:t>
            </a:r>
          </a:p>
        </p:txBody>
      </p:sp>
    </p:spTree>
  </p:cSld>
  <p:clrMapOvr>
    <a:masterClrMapping/>
  </p:clrMapOvr>
</p:sld>
</file>

<file path=ppt/theme/theme1.xml><?xml version="1.0" encoding="utf-8"?>
<a:theme xmlns:a="http://schemas.openxmlformats.org/drawingml/2006/main" name="Student Project Factory">
  <a:themeElements>
    <a:clrScheme name="Office">
      <a:dk1>
        <a:sysClr val="windowText" lastClr="000000"/>
      </a:dk1>
      <a:lt1>
        <a:sysClr val="window" lastClr="FFFFFF"/>
      </a:lt1>
      <a:dk2>
        <a:srgbClr val="1F2937"/>
      </a:dk2>
      <a:lt2>
        <a:srgbClr val="F8FAFC"/>
      </a:lt2>
      <a:accent1>
        <a:srgbClr val="2563EB"/>
      </a:accent1>
      <a:accent2>
        <a:srgbClr val="059669"/>
      </a:accent2>
      <a:accent3>
        <a:srgbClr val="D97706"/>
      </a:accent3>
      <a:accent4>
        <a:srgbClr val="7C3AED"/>
      </a:accent4>
      <a:accent5>
        <a:srgbClr val="DC2626"/>
      </a:accent5>
      <a:accent6>
        <a:srgbClr val="0891B2"/>
      </a:accent6>
      <a:hlink>
        <a:srgbClr val="2563EB"/>
      </a:hlink>
      <a:folHlink>
        <a:srgbClr val="7C3AED"/>
      </a:folHlink>
    </a:clrScheme>
    <a:fontScheme name="Office">
      <a:majorFont>
        <a:latin typeface="Arial"/>
      </a:majorFont>
      <a:minorFont>
        <a:latin typeface="Arial"/>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